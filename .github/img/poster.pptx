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69181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52" d="100"/>
          <a:sy n="52" d="100"/>
        </p:scale>
        <p:origin x="30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2474395"/>
            <a:ext cx="9088041" cy="5263774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7941160"/>
            <a:ext cx="8018860" cy="3650342"/>
          </a:xfrm>
        </p:spPr>
        <p:txBody>
          <a:bodyPr/>
          <a:lstStyle>
            <a:lvl1pPr marL="0" indent="0" algn="ctr">
              <a:buNone/>
              <a:defRPr sz="2806"/>
            </a:lvl1pPr>
            <a:lvl2pPr marL="534604" indent="0" algn="ctr">
              <a:buNone/>
              <a:defRPr sz="2339"/>
            </a:lvl2pPr>
            <a:lvl3pPr marL="1069208" indent="0" algn="ctr">
              <a:buNone/>
              <a:defRPr sz="2105"/>
            </a:lvl3pPr>
            <a:lvl4pPr marL="1603812" indent="0" algn="ctr">
              <a:buNone/>
              <a:defRPr sz="1871"/>
            </a:lvl4pPr>
            <a:lvl5pPr marL="2138416" indent="0" algn="ctr">
              <a:buNone/>
              <a:defRPr sz="1871"/>
            </a:lvl5pPr>
            <a:lvl6pPr marL="2673020" indent="0" algn="ctr">
              <a:buNone/>
              <a:defRPr sz="1871"/>
            </a:lvl6pPr>
            <a:lvl7pPr marL="3207624" indent="0" algn="ctr">
              <a:buNone/>
              <a:defRPr sz="1871"/>
            </a:lvl7pPr>
            <a:lvl8pPr marL="3742228" indent="0" algn="ctr">
              <a:buNone/>
              <a:defRPr sz="1871"/>
            </a:lvl8pPr>
            <a:lvl9pPr marL="4276832" indent="0" algn="ctr">
              <a:buNone/>
              <a:defRPr sz="1871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64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7557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3769342"/>
            <a:ext cx="9221689" cy="628922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10118069"/>
            <a:ext cx="9221689" cy="3307357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82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855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4024827"/>
            <a:ext cx="4544021" cy="959308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4024827"/>
            <a:ext cx="4544021" cy="959308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492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804969"/>
            <a:ext cx="9221689" cy="2922375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3706342"/>
            <a:ext cx="4523137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5522763"/>
            <a:ext cx="4523137" cy="812315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3706342"/>
            <a:ext cx="4545413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5522763"/>
            <a:ext cx="4545413" cy="812315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940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4406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273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2176910"/>
            <a:ext cx="5412730" cy="10744538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630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2176910"/>
            <a:ext cx="5412730" cy="10744538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518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258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804966"/>
            <a:ext cx="2305422" cy="1281295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804966"/>
            <a:ext cx="6782619" cy="128129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373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804969"/>
            <a:ext cx="9221689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4024827"/>
            <a:ext cx="9221689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8D67E-DDC0-4D35-95D2-F966A13EB3FF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09A3C-53E8-4F40-8755-20C60BC12B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210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69208" rtl="0" eaLnBrk="1" latinLnBrk="0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Obrázek 58">
            <a:extLst>
              <a:ext uri="{FF2B5EF4-FFF2-40B4-BE49-F238E27FC236}">
                <a16:creationId xmlns:a16="http://schemas.microsoft.com/office/drawing/2014/main" id="{8FECDDE5-C2C8-D6F3-89C2-F8EE62304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57086" y="12867600"/>
            <a:ext cx="2034727" cy="1780386"/>
          </a:xfrm>
          <a:prstGeom prst="rect">
            <a:avLst/>
          </a:prstGeom>
        </p:spPr>
      </p:pic>
      <p:pic>
        <p:nvPicPr>
          <p:cNvPr id="61" name="Obrázek 60">
            <a:extLst>
              <a:ext uri="{FF2B5EF4-FFF2-40B4-BE49-F238E27FC236}">
                <a16:creationId xmlns:a16="http://schemas.microsoft.com/office/drawing/2014/main" id="{EE96F505-87B1-F386-4296-3ED0170A2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138" y="12978264"/>
            <a:ext cx="5404161" cy="1647884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F4646767-15A2-62A4-439C-91196A432727}"/>
              </a:ext>
            </a:extLst>
          </p:cNvPr>
          <p:cNvSpPr/>
          <p:nvPr/>
        </p:nvSpPr>
        <p:spPr>
          <a:xfrm>
            <a:off x="0" y="0"/>
            <a:ext cx="10691812" cy="237206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pic>
        <p:nvPicPr>
          <p:cNvPr id="7" name="Obrázek 6" descr="Obsah obrázku logo, symbol, Písmo, Grafika&#10;&#10;Obsah vygenerovaný umělou inteligencí může být nesprávný.">
            <a:extLst>
              <a:ext uri="{FF2B5EF4-FFF2-40B4-BE49-F238E27FC236}">
                <a16:creationId xmlns:a16="http://schemas.microsoft.com/office/drawing/2014/main" id="{2423F2B8-1E90-FD39-918C-B22328503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5" y="92279"/>
            <a:ext cx="2748882" cy="847573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CB4DEABC-E33F-5446-D727-C24D57DF0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1837" y="26799"/>
            <a:ext cx="3888137" cy="1038111"/>
          </a:xfrm>
        </p:spPr>
        <p:txBody>
          <a:bodyPr>
            <a:normAutofit fontScale="90000"/>
          </a:bodyPr>
          <a:lstStyle/>
          <a:p>
            <a:pPr algn="l"/>
            <a:r>
              <a:rPr lang="cs-CZ" b="1" noProof="0" dirty="0">
                <a:solidFill>
                  <a:schemeClr val="bg1"/>
                </a:solidFill>
              </a:rPr>
              <a:t>VGA Pong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F257ACF-859A-C451-8846-453224B41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745" y="1676013"/>
            <a:ext cx="7671708" cy="466446"/>
          </a:xfrm>
        </p:spPr>
        <p:txBody>
          <a:bodyPr>
            <a:normAutofit/>
          </a:bodyPr>
          <a:lstStyle/>
          <a:p>
            <a:pPr algn="l"/>
            <a:r>
              <a:rPr lang="cs-CZ" sz="2400" noProof="0" dirty="0">
                <a:solidFill>
                  <a:schemeClr val="bg1"/>
                </a:solidFill>
              </a:rPr>
              <a:t>Tomáš Lohynský, Jan Tříletý | Digitální elektronika 1 | 2026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0B23EEB4-4B00-2F73-2872-7982DEC4353C}"/>
              </a:ext>
            </a:extLst>
          </p:cNvPr>
          <p:cNvSpPr txBox="1"/>
          <p:nvPr/>
        </p:nvSpPr>
        <p:spPr>
          <a:xfrm>
            <a:off x="105745" y="1091685"/>
            <a:ext cx="4982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1" noProof="0" dirty="0">
                <a:solidFill>
                  <a:schemeClr val="bg1"/>
                </a:solidFill>
              </a:rPr>
              <a:t>FPGA generování VGA signálů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B5B67784-69DB-296B-F6F7-BE59ED177AE8}"/>
              </a:ext>
            </a:extLst>
          </p:cNvPr>
          <p:cNvSpPr txBox="1"/>
          <p:nvPr/>
        </p:nvSpPr>
        <p:spPr>
          <a:xfrm>
            <a:off x="101425" y="6437088"/>
            <a:ext cx="654530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300" b="1" noProof="0" dirty="0"/>
              <a:t>VGA Funkce</a:t>
            </a:r>
            <a:endParaRPr lang="cs-CZ" sz="2400" b="1" noProof="0" dirty="0"/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noProof="0" dirty="0"/>
              <a:t>Generování </a:t>
            </a:r>
            <a:r>
              <a:rPr lang="cs-CZ" sz="1600" b="1" noProof="0" dirty="0"/>
              <a:t>HSYNC</a:t>
            </a:r>
            <a:r>
              <a:rPr lang="cs-CZ" sz="1600" noProof="0" dirty="0"/>
              <a:t> a </a:t>
            </a:r>
            <a:r>
              <a:rPr lang="cs-CZ" sz="1600" b="1" noProof="0" dirty="0"/>
              <a:t>VSYNC</a:t>
            </a:r>
            <a:r>
              <a:rPr lang="cs-CZ" sz="1600" noProof="0" dirty="0"/>
              <a:t> pro </a:t>
            </a:r>
            <a:r>
              <a:rPr lang="cs-CZ" sz="2800" b="1" noProof="0" dirty="0"/>
              <a:t>640x480 @ 60Hz</a:t>
            </a:r>
            <a:endParaRPr lang="cs-CZ" sz="1600" b="1" noProof="0" dirty="0"/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noProof="0" dirty="0"/>
              <a:t>Výpočet </a:t>
            </a:r>
            <a:r>
              <a:rPr lang="cs-CZ" sz="1600" b="1" noProof="0" dirty="0"/>
              <a:t>X</a:t>
            </a:r>
            <a:r>
              <a:rPr lang="cs-CZ" sz="1600" noProof="0" dirty="0"/>
              <a:t> a </a:t>
            </a:r>
            <a:r>
              <a:rPr lang="cs-CZ" sz="1600" b="1" noProof="0" dirty="0"/>
              <a:t>Y</a:t>
            </a:r>
            <a:r>
              <a:rPr lang="cs-CZ" sz="1600" noProof="0" dirty="0"/>
              <a:t> souřadnic aktuálního pixelu pro návaznou logiku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b="1" noProof="0" dirty="0" err="1"/>
              <a:t>video_on</a:t>
            </a:r>
            <a:r>
              <a:rPr lang="cs-CZ" sz="1600" b="1" noProof="0" dirty="0"/>
              <a:t> </a:t>
            </a:r>
            <a:r>
              <a:rPr lang="cs-CZ" sz="1600" noProof="0" dirty="0"/>
              <a:t>signál pro ochranu </a:t>
            </a:r>
            <a:r>
              <a:rPr lang="cs-CZ" sz="1600" i="1" noProof="0" dirty="0" err="1"/>
              <a:t>blanking</a:t>
            </a:r>
            <a:r>
              <a:rPr lang="cs-CZ" sz="1600" noProof="0" dirty="0"/>
              <a:t> intervalů monitoru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endParaRPr lang="cs-CZ" sz="1600" noProof="0" dirty="0"/>
          </a:p>
        </p:txBody>
      </p:sp>
      <p:pic>
        <p:nvPicPr>
          <p:cNvPr id="30" name="Obrázek 29" descr="Obsah obrázku text, výsledková tabule, Písmo, číslo&#10;&#10;Obsah vygenerovaný umělou inteligencí může být nesprávný.">
            <a:extLst>
              <a:ext uri="{FF2B5EF4-FFF2-40B4-BE49-F238E27FC236}">
                <a16:creationId xmlns:a16="http://schemas.microsoft.com/office/drawing/2014/main" id="{B33A21A9-6D5F-BEBF-F496-D366A78134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30" y="8284337"/>
            <a:ext cx="2365602" cy="1721179"/>
          </a:xfrm>
          <a:prstGeom prst="rect">
            <a:avLst/>
          </a:prstGeom>
        </p:spPr>
      </p:pic>
      <p:sp>
        <p:nvSpPr>
          <p:cNvPr id="39" name="TextovéPole 38">
            <a:extLst>
              <a:ext uri="{FF2B5EF4-FFF2-40B4-BE49-F238E27FC236}">
                <a16:creationId xmlns:a16="http://schemas.microsoft.com/office/drawing/2014/main" id="{0C659437-0190-CE52-7A78-5AFD0617AD50}"/>
              </a:ext>
            </a:extLst>
          </p:cNvPr>
          <p:cNvSpPr txBox="1"/>
          <p:nvPr/>
        </p:nvSpPr>
        <p:spPr>
          <a:xfrm>
            <a:off x="5798206" y="7793130"/>
            <a:ext cx="236560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300" b="1" noProof="0" dirty="0"/>
              <a:t>Přepínání módů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791B55A-9560-78D9-208D-49F9AC9CB0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505" y="120622"/>
            <a:ext cx="2139563" cy="2139563"/>
          </a:xfrm>
          <a:prstGeom prst="rect">
            <a:avLst/>
          </a:prstGeom>
        </p:spPr>
      </p:pic>
      <p:pic>
        <p:nvPicPr>
          <p:cNvPr id="31" name="Obrázek 30">
            <a:extLst>
              <a:ext uri="{FF2B5EF4-FFF2-40B4-BE49-F238E27FC236}">
                <a16:creationId xmlns:a16="http://schemas.microsoft.com/office/drawing/2014/main" id="{D65D9BBF-56B6-AD46-C9D0-D38B281FEB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120" y="2490557"/>
            <a:ext cx="5185948" cy="3889461"/>
          </a:xfrm>
          <a:prstGeom prst="rect">
            <a:avLst/>
          </a:prstGeom>
        </p:spPr>
      </p:pic>
      <p:pic>
        <p:nvPicPr>
          <p:cNvPr id="38" name="Obrázek 37">
            <a:extLst>
              <a:ext uri="{FF2B5EF4-FFF2-40B4-BE49-F238E27FC236}">
                <a16:creationId xmlns:a16="http://schemas.microsoft.com/office/drawing/2014/main" id="{531C64DD-2121-8924-8FCA-6ABE8925CD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5" y="2494714"/>
            <a:ext cx="5180405" cy="3885304"/>
          </a:xfrm>
          <a:prstGeom prst="rect">
            <a:avLst/>
          </a:prstGeom>
        </p:spPr>
      </p:pic>
      <p:sp>
        <p:nvSpPr>
          <p:cNvPr id="43" name="TextovéPole 42">
            <a:extLst>
              <a:ext uri="{FF2B5EF4-FFF2-40B4-BE49-F238E27FC236}">
                <a16:creationId xmlns:a16="http://schemas.microsoft.com/office/drawing/2014/main" id="{A5A0418A-6B69-09D8-3C7F-0255F08819C8}"/>
              </a:ext>
            </a:extLst>
          </p:cNvPr>
          <p:cNvSpPr txBox="1"/>
          <p:nvPr/>
        </p:nvSpPr>
        <p:spPr>
          <a:xfrm>
            <a:off x="5951220" y="6498510"/>
            <a:ext cx="4634848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cs-CZ" sz="2000" b="1" noProof="0" dirty="0"/>
              <a:t>Diagnostický režim 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noProof="0" dirty="0"/>
              <a:t>Hardwarový generátor SMPTE barevných pruhů 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noProof="0" dirty="0"/>
              <a:t>Ověření správného časování a barev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noProof="0" dirty="0"/>
              <a:t>Všechny konstanty pro projekt jsou v </a:t>
            </a:r>
            <a:r>
              <a:rPr lang="cs-CZ" sz="1600" i="1" noProof="0" dirty="0" err="1"/>
              <a:t>const_pkg</a:t>
            </a:r>
            <a:endParaRPr lang="cs-CZ" sz="1600" i="1" noProof="0" dirty="0"/>
          </a:p>
        </p:txBody>
      </p:sp>
      <p:sp>
        <p:nvSpPr>
          <p:cNvPr id="44" name="TextovéPole 43">
            <a:extLst>
              <a:ext uri="{FF2B5EF4-FFF2-40B4-BE49-F238E27FC236}">
                <a16:creationId xmlns:a16="http://schemas.microsoft.com/office/drawing/2014/main" id="{396EC07C-98D4-51CB-5DE8-E9CDB6A6B8E6}"/>
              </a:ext>
            </a:extLst>
          </p:cNvPr>
          <p:cNvSpPr txBox="1"/>
          <p:nvPr/>
        </p:nvSpPr>
        <p:spPr>
          <a:xfrm>
            <a:off x="101425" y="7973614"/>
            <a:ext cx="584979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400" b="1" noProof="0" dirty="0"/>
              <a:t>Hra PONG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b="1" noProof="0" dirty="0"/>
              <a:t>Front-Face AABB:</a:t>
            </a:r>
            <a:r>
              <a:rPr lang="cs-CZ" sz="1600" noProof="0" dirty="0"/>
              <a:t> Detekce kolizí na přední hraně pálky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noProof="0" dirty="0"/>
              <a:t>Herní logika je synchronizována na konci snímku podle </a:t>
            </a:r>
            <a:r>
              <a:rPr lang="cs-CZ" sz="1600" b="1" noProof="0" dirty="0"/>
              <a:t>VSYNC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noProof="0" dirty="0"/>
              <a:t>Detekce odrazu od stěn s invertováním vertikální rychlosti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noProof="0" dirty="0"/>
              <a:t>Po každém bodu zůstane míč chvíli uprostřed, pak se podává na stranu hráče, který právě skóroval</a:t>
            </a:r>
            <a:endParaRPr lang="cs-CZ" sz="1600" b="1" noProof="0" dirty="0"/>
          </a:p>
        </p:txBody>
      </p:sp>
      <p:pic>
        <p:nvPicPr>
          <p:cNvPr id="47" name="Obrázek 46">
            <a:extLst>
              <a:ext uri="{FF2B5EF4-FFF2-40B4-BE49-F238E27FC236}">
                <a16:creationId xmlns:a16="http://schemas.microsoft.com/office/drawing/2014/main" id="{51D29F6B-E33F-6B9C-A1BF-5FCE210E13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220" y="8400103"/>
            <a:ext cx="2059575" cy="1605413"/>
          </a:xfrm>
          <a:prstGeom prst="rect">
            <a:avLst/>
          </a:prstGeom>
        </p:spPr>
      </p:pic>
      <p:sp>
        <p:nvSpPr>
          <p:cNvPr id="48" name="TextovéPole 47">
            <a:extLst>
              <a:ext uri="{FF2B5EF4-FFF2-40B4-BE49-F238E27FC236}">
                <a16:creationId xmlns:a16="http://schemas.microsoft.com/office/drawing/2014/main" id="{CDEE152F-269C-21F3-129C-60EDF11B41CE}"/>
              </a:ext>
            </a:extLst>
          </p:cNvPr>
          <p:cNvSpPr txBox="1"/>
          <p:nvPr/>
        </p:nvSpPr>
        <p:spPr>
          <a:xfrm>
            <a:off x="8069922" y="7793130"/>
            <a:ext cx="236560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300" b="1" noProof="0" dirty="0"/>
              <a:t>Ovládání PONG</a:t>
            </a:r>
          </a:p>
        </p:txBody>
      </p:sp>
      <p:sp>
        <p:nvSpPr>
          <p:cNvPr id="49" name="TextovéPole 48">
            <a:extLst>
              <a:ext uri="{FF2B5EF4-FFF2-40B4-BE49-F238E27FC236}">
                <a16:creationId xmlns:a16="http://schemas.microsoft.com/office/drawing/2014/main" id="{699AA1C1-452B-D22A-FE6B-25167A51ADA5}"/>
              </a:ext>
            </a:extLst>
          </p:cNvPr>
          <p:cNvSpPr txBox="1"/>
          <p:nvPr/>
        </p:nvSpPr>
        <p:spPr>
          <a:xfrm>
            <a:off x="94745" y="9700657"/>
            <a:ext cx="5856473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300" b="1" noProof="0" dirty="0"/>
              <a:t>Vykreslování Číslic</a:t>
            </a:r>
            <a:endParaRPr lang="cs-CZ" sz="2400" b="1" noProof="0" dirty="0"/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b="1" noProof="0" dirty="0"/>
              <a:t>Double </a:t>
            </a:r>
            <a:r>
              <a:rPr lang="cs-CZ" sz="1600" b="1" noProof="0" dirty="0" err="1"/>
              <a:t>Dabble</a:t>
            </a:r>
            <a:r>
              <a:rPr lang="cs-CZ" sz="1600" b="1" noProof="0" dirty="0"/>
              <a:t>:</a:t>
            </a:r>
            <a:r>
              <a:rPr lang="cs-CZ" sz="1600" noProof="0" dirty="0"/>
              <a:t> </a:t>
            </a:r>
            <a:r>
              <a:rPr lang="cs-CZ" sz="1600" noProof="0" dirty="0" err="1"/>
              <a:t>FPGAs</a:t>
            </a:r>
            <a:r>
              <a:rPr lang="cs-CZ" sz="1600" noProof="0" dirty="0"/>
              <a:t> špatně zvládají dělení. Pro převod 8bit skóre na 3 BCD číslice využívá metodu </a:t>
            </a:r>
            <a:r>
              <a:rPr lang="cs-CZ" sz="1600" i="1" noProof="0" dirty="0"/>
              <a:t>Shift and </a:t>
            </a:r>
            <a:r>
              <a:rPr lang="cs-CZ" sz="1600" i="1" noProof="0" dirty="0" err="1"/>
              <a:t>Add</a:t>
            </a:r>
            <a:r>
              <a:rPr lang="cs-CZ" sz="1600" i="1" noProof="0" dirty="0"/>
              <a:t> 3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b="1" noProof="0" dirty="0"/>
              <a:t>Font z ROM:</a:t>
            </a:r>
            <a:r>
              <a:rPr lang="cs-CZ" sz="1600" noProof="0" dirty="0"/>
              <a:t> Čtení pixelových dat pro vybranou číslici z paměti ROM pomocí </a:t>
            </a:r>
            <a:r>
              <a:rPr lang="cs-CZ" sz="1600" noProof="0" dirty="0" err="1"/>
              <a:t>Bounding</a:t>
            </a:r>
            <a:r>
              <a:rPr lang="cs-CZ" sz="1600" noProof="0" dirty="0"/>
              <a:t> Box o velikosti 24x48 pixelů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noProof="0" dirty="0" err="1"/>
              <a:t>Atomatické</a:t>
            </a:r>
            <a:r>
              <a:rPr lang="cs-CZ" sz="1600" noProof="0" dirty="0"/>
              <a:t> centrování skóre a </a:t>
            </a:r>
            <a:r>
              <a:rPr lang="cs-CZ" sz="1600" b="1" i="1" noProof="0" dirty="0" err="1"/>
              <a:t>Leading</a:t>
            </a:r>
            <a:r>
              <a:rPr lang="cs-CZ" sz="1600" b="1" i="1" noProof="0" dirty="0"/>
              <a:t> </a:t>
            </a:r>
            <a:r>
              <a:rPr lang="cs-CZ" sz="1600" b="1" i="1" noProof="0" dirty="0" err="1"/>
              <a:t>Zero</a:t>
            </a:r>
            <a:r>
              <a:rPr lang="cs-CZ" sz="1600" b="1" i="1" noProof="0" dirty="0"/>
              <a:t> </a:t>
            </a:r>
            <a:r>
              <a:rPr lang="cs-CZ" sz="1600" b="1" i="1" noProof="0" dirty="0" err="1"/>
              <a:t>Suppression</a:t>
            </a:r>
            <a:endParaRPr lang="cs-CZ" sz="1600" b="1" i="1" noProof="0" dirty="0"/>
          </a:p>
        </p:txBody>
      </p:sp>
      <p:pic>
        <p:nvPicPr>
          <p:cNvPr id="51" name="Obrázek 50">
            <a:extLst>
              <a:ext uri="{FF2B5EF4-FFF2-40B4-BE49-F238E27FC236}">
                <a16:creationId xmlns:a16="http://schemas.microsoft.com/office/drawing/2014/main" id="{714E4814-3819-BD9D-6D7E-E45DB9ACEF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865" y="10365592"/>
            <a:ext cx="4645202" cy="906381"/>
          </a:xfrm>
          <a:prstGeom prst="rect">
            <a:avLst/>
          </a:prstGeom>
        </p:spPr>
      </p:pic>
      <p:pic>
        <p:nvPicPr>
          <p:cNvPr id="53" name="Obrázek 52">
            <a:extLst>
              <a:ext uri="{FF2B5EF4-FFF2-40B4-BE49-F238E27FC236}">
                <a16:creationId xmlns:a16="http://schemas.microsoft.com/office/drawing/2014/main" id="{FBA0F769-0231-6CF2-77FF-C617631D1D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5" y="11587876"/>
            <a:ext cx="2973646" cy="2967699"/>
          </a:xfrm>
          <a:prstGeom prst="rect">
            <a:avLst/>
          </a:prstGeom>
        </p:spPr>
      </p:pic>
      <p:sp>
        <p:nvSpPr>
          <p:cNvPr id="56" name="TextovéPole 55">
            <a:extLst>
              <a:ext uri="{FF2B5EF4-FFF2-40B4-BE49-F238E27FC236}">
                <a16:creationId xmlns:a16="http://schemas.microsoft.com/office/drawing/2014/main" id="{CD179919-E2D5-7665-F56D-C1C9C20B4492}"/>
              </a:ext>
            </a:extLst>
          </p:cNvPr>
          <p:cNvSpPr txBox="1"/>
          <p:nvPr/>
        </p:nvSpPr>
        <p:spPr>
          <a:xfrm>
            <a:off x="2865626" y="11393261"/>
            <a:ext cx="773144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400" b="1" noProof="0" dirty="0"/>
              <a:t>Hardwarová AI (Automatický oponent)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noProof="0" dirty="0"/>
              <a:t>Modul nahrazující lidského hráče výpočtem </a:t>
            </a:r>
            <a:r>
              <a:rPr lang="cs-CZ" sz="1600" b="1" noProof="0" dirty="0"/>
              <a:t>Y</a:t>
            </a:r>
            <a:r>
              <a:rPr lang="cs-CZ" sz="1600" noProof="0" dirty="0"/>
              <a:t>-souřadnic středu míčku a pálky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b="1" noProof="0" dirty="0"/>
              <a:t>Aktivace zónou:</a:t>
            </a:r>
            <a:r>
              <a:rPr lang="cs-CZ" sz="1600" noProof="0" dirty="0"/>
              <a:t> Vyhodnocuje pozici a zůstává neaktivní, dokud míček nepřekročí aktivační hranici (</a:t>
            </a:r>
            <a:r>
              <a:rPr lang="cs-CZ" sz="1200" b="1" noProof="0" dirty="0"/>
              <a:t>G_ACTIVATION_X</a:t>
            </a:r>
            <a:r>
              <a:rPr lang="cs-CZ" sz="1600" noProof="0" dirty="0"/>
              <a:t>) do její obranné poloviny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r>
              <a:rPr lang="cs-CZ" sz="1600" b="1" noProof="0" dirty="0" err="1"/>
              <a:t>Deadzone</a:t>
            </a:r>
            <a:r>
              <a:rPr lang="cs-CZ" sz="1600" b="1" noProof="0" dirty="0"/>
              <a:t>:</a:t>
            </a:r>
            <a:r>
              <a:rPr lang="cs-CZ" sz="1600" noProof="0" dirty="0"/>
              <a:t> Toleranční zóna, která zabraňuje třesení pálky (</a:t>
            </a:r>
            <a:r>
              <a:rPr lang="cs-CZ" sz="1600" i="1" noProof="0" dirty="0" err="1"/>
              <a:t>jittering</a:t>
            </a:r>
            <a:r>
              <a:rPr lang="cs-CZ" sz="1600" noProof="0" dirty="0"/>
              <a:t>) ve chvíli, kdy je zarovnána s míčkem</a:t>
            </a:r>
          </a:p>
          <a:p>
            <a:pPr marL="108000" indent="-180000">
              <a:buFont typeface="Arial" panose="020B0604020202020204" pitchFamily="34" charset="0"/>
              <a:buChar char="•"/>
            </a:pPr>
            <a:endParaRPr lang="cs-CZ" sz="1600" noProof="0" dirty="0"/>
          </a:p>
          <a:p>
            <a:pPr marL="108000" indent="-180000">
              <a:buFont typeface="Arial" panose="020B0604020202020204" pitchFamily="34" charset="0"/>
              <a:buChar char="•"/>
            </a:pPr>
            <a:endParaRPr lang="cs-CZ" sz="1600" noProof="0" dirty="0"/>
          </a:p>
        </p:txBody>
      </p: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CD5BA95E-3082-43D3-D910-81CB0C70B788}"/>
              </a:ext>
            </a:extLst>
          </p:cNvPr>
          <p:cNvSpPr txBox="1"/>
          <p:nvPr/>
        </p:nvSpPr>
        <p:spPr>
          <a:xfrm>
            <a:off x="0" y="14555575"/>
            <a:ext cx="1069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noProof="0" dirty="0"/>
              <a:t>Projekt demonstruje možnosti FPGA a jazyka VHDL pro generování VGA obrazu a implementaci jednoduché interaktivní grafiky bez použití </a:t>
            </a:r>
            <a:r>
              <a:rPr lang="cs-CZ" sz="1600" b="1" noProof="0" dirty="0" err="1"/>
              <a:t>framebufferu</a:t>
            </a:r>
            <a:r>
              <a:rPr lang="cs-CZ" sz="1600" noProof="0" dirty="0"/>
              <a:t> nebo </a:t>
            </a:r>
            <a:r>
              <a:rPr lang="cs-CZ" sz="1600" b="1" noProof="0" dirty="0"/>
              <a:t>procesoru</a:t>
            </a:r>
            <a:endParaRPr lang="cs-CZ" sz="1600" noProof="0" dirty="0"/>
          </a:p>
        </p:txBody>
      </p:sp>
      <p:sp>
        <p:nvSpPr>
          <p:cNvPr id="57" name="TextovéPole 56">
            <a:extLst>
              <a:ext uri="{FF2B5EF4-FFF2-40B4-BE49-F238E27FC236}">
                <a16:creationId xmlns:a16="http://schemas.microsoft.com/office/drawing/2014/main" id="{B6FC13F3-CFE5-3CCF-E084-5E048F0F2251}"/>
              </a:ext>
            </a:extLst>
          </p:cNvPr>
          <p:cNvSpPr txBox="1"/>
          <p:nvPr/>
        </p:nvSpPr>
        <p:spPr>
          <a:xfrm>
            <a:off x="8957869" y="11240475"/>
            <a:ext cx="24579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noProof="0" dirty="0">
                <a:solidFill>
                  <a:schemeClr val="bg1">
                    <a:lumMod val="75000"/>
                  </a:schemeClr>
                </a:solidFill>
              </a:rPr>
              <a:t>Ano je to Minecraft font</a:t>
            </a:r>
          </a:p>
        </p:txBody>
      </p:sp>
    </p:spTree>
    <p:extLst>
      <p:ext uri="{BB962C8B-B14F-4D97-AF65-F5344CB8AC3E}">
        <p14:creationId xmlns:p14="http://schemas.microsoft.com/office/powerpoint/2010/main" val="197694850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i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</TotalTime>
  <Words>255</Words>
  <Application>Microsoft Office PowerPoint</Application>
  <PresentationFormat>Vlastní</PresentationFormat>
  <Paragraphs>28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Motiv Office</vt:lpstr>
      <vt:lpstr>VGA Pong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Tříletý Jan (270374)</dc:creator>
  <cp:lastModifiedBy>Lohynský Tomáš (270965)</cp:lastModifiedBy>
  <cp:revision>13</cp:revision>
  <dcterms:created xsi:type="dcterms:W3CDTF">2026-05-06T10:21:06Z</dcterms:created>
  <dcterms:modified xsi:type="dcterms:W3CDTF">2026-05-06T17:15:39Z</dcterms:modified>
</cp:coreProperties>
</file>